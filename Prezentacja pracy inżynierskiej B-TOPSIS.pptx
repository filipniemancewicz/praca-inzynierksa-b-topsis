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embeddedFontLst>
    <p:embeddedFont>
      <p:font typeface="Plus Jakarta Sans"/>
      <p:regular r:id="rId21"/>
      <p:bold r:id="rId22"/>
      <p:italic r:id="rId23"/>
      <p:boldItalic r:id="rId24"/>
    </p:embeddedFont>
    <p:embeddedFont>
      <p:font typeface="JetBrains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BC5F43-EFD7-496A-8DB1-DE62BBD4FA84}">
  <a:tblStyle styleId="{A0BC5F43-EFD7-496A-8DB1-DE62BBD4FA8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usJakartaSans-bold.fntdata"/><Relationship Id="rId21" Type="http://schemas.openxmlformats.org/officeDocument/2006/relationships/font" Target="fonts/PlusJakartaSans-regular.fntdata"/><Relationship Id="rId24" Type="http://schemas.openxmlformats.org/officeDocument/2006/relationships/font" Target="fonts/PlusJakartaSans-boldItalic.fntdata"/><Relationship Id="rId23" Type="http://schemas.openxmlformats.org/officeDocument/2006/relationships/font" Target="fonts/PlusJakart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bold.fntdata"/><Relationship Id="rId25" Type="http://schemas.openxmlformats.org/officeDocument/2006/relationships/font" Target="fonts/JetBrainsMono-regular.fntdata"/><Relationship Id="rId28" Type="http://schemas.openxmlformats.org/officeDocument/2006/relationships/font" Target="fonts/JetBrainsMono-boldItalic.fntdata"/><Relationship Id="rId27" Type="http://schemas.openxmlformats.org/officeDocument/2006/relationships/font" Target="fonts/JetBrains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5600700"/>
            <a:ext cx="10668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560070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609600"/>
            <a:ext cx="51673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SEMINARIUM DYPLOMOWE • PRACA INŻYNIERSKA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686925" y="623887"/>
            <a:ext cx="21788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Eurobarometer 101.3 (2024)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2047130"/>
            <a:ext cx="10601325" cy="15769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Wielokryterialna ocena sytuacji społeczno-gospodarczej państw UE z wykorzystaniem metody B-TOPSIS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3776513"/>
            <a:ext cx="88582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Modelowanie niepewności ankietowej w oparciu o teorię dowodów Dempstera-Shafera i metrykę Jousselme'a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153650" y="6076950"/>
            <a:ext cx="15954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Wydział Informatyki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5838825"/>
            <a:ext cx="1952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AUTOR PRACY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62000" y="6029325"/>
            <a:ext cx="1952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Filip Niemancewicz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705100" y="5838825"/>
            <a:ext cx="2714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KIERUNEK I PROFIL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705100" y="6029325"/>
            <a:ext cx="27146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Informatyka i Ekonometria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762000" y="2659856"/>
            <a:ext cx="3403550" cy="2033587"/>
          </a:xfrm>
          <a:prstGeom prst="roundRect">
            <a:avLst>
              <a:gd fmla="val 562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394150" y="2767012"/>
            <a:ext cx="3403550" cy="1819275"/>
          </a:xfrm>
          <a:prstGeom prst="roundRect">
            <a:avLst>
              <a:gd fmla="val 62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8026300" y="2767012"/>
            <a:ext cx="3403550" cy="1819275"/>
          </a:xfrm>
          <a:prstGeom prst="roundRect">
            <a:avLst>
              <a:gd fmla="val 62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6143625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Czas trwania referatu: ok. 20–25 minut wraz z dyskusją.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PREZENTACJI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Harmonogram wystąpienia seminaryjnego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28700" y="2964656"/>
            <a:ext cx="2965400" cy="14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660850" y="3071812"/>
            <a:ext cx="2965400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293000" y="3071812"/>
            <a:ext cx="2965400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38225" y="3421856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Kontekst i problem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38225" y="3736181"/>
            <a:ext cx="2946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Ograniczenia agregacji danych ankietowych i pułapki odpowiedzi „Nie wiem”.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670375" y="3529012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Aparat matematyczny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670375" y="3843337"/>
            <a:ext cx="2946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Teoria Dempstera-Shafera, macierz Jaccarda oraz metryka Jousselme'a.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302525" y="3529012"/>
            <a:ext cx="374206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Wyniki i wnioski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302525" y="3843337"/>
            <a:ext cx="2946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Analiza rankingu 27 państw UE, typologia grup i pozycja Polski.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762000" y="6143625"/>
            <a:ext cx="28575" cy="1809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762000" y="2366962"/>
            <a:ext cx="5181600" cy="2619375"/>
          </a:xfrm>
          <a:prstGeom prst="roundRect">
            <a:avLst>
              <a:gd fmla="val 4363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248400" y="2366962"/>
            <a:ext cx="5181600" cy="2619375"/>
          </a:xfrm>
          <a:prstGeom prst="roundRect">
            <a:avLst>
              <a:gd fmla="val 4363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5" y="26860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26860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14400" y="6143625"/>
            <a:ext cx="11277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Cel: Zbudowanie obiektywnego rankingu 27 państw członkowskich UE na bazie opinii obywateli bez zniekształceń.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WPROWADZENIE DO PROBLEMU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Dlaczego klasyczne podejście statystyczne zawodzi?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419225" y="2681287"/>
            <a:ext cx="383797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Wady tradycyjnego uśredniania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076325" y="3071812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Spłaszczenie rozkładu:</a:t>
            </a:r>
            <a:r>
              <a:rPr b="0" i="0" lang="en-US" sz="12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Tracona jest informacja o polaryzacji społeczeństwa.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076325" y="3643312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Fałszywa neutralność:</a:t>
            </a:r>
            <a:r>
              <a:rPr b="0" i="0" lang="en-US" sz="12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Traktowanie „Nie wiem” jako oceny 2.5 lub 3.0 zniekształca sens.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076325" y="4214812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Redukcja próby:</a:t>
            </a:r>
            <a:r>
              <a:rPr b="0" i="0" lang="en-US" sz="12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Odrzucenie niepewnych respondentów usuwa istotną informację.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905625" y="2681287"/>
            <a:ext cx="382547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Odpowiedź: Metoda B-TOPSIS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562725" y="3071812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Zachowanie pełnego rozkładu:</a:t>
            </a:r>
            <a:r>
              <a:rPr b="0" i="0" lang="en-US" sz="12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Zapis ankiety jako wektora mas przekonań.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562725" y="3643312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Matematyczny model ignorancji:</a:t>
            </a:r>
            <a:r>
              <a:rPr b="0" i="0" lang="en-US" sz="12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Brak zdania to zbiór pełny ramy decyzyjnej.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562725" y="4214812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Geometryczna sprawiedliwość:</a:t>
            </a:r>
            <a:r>
              <a:rPr b="0" i="0" lang="en-US" sz="12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Odpowiedź neutralna otrzymuje wagę części wspólnej.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/>
          <p:cNvSpPr/>
          <p:nvPr/>
        </p:nvSpPr>
        <p:spPr>
          <a:xfrm>
            <a:off x="762000" y="5743575"/>
            <a:ext cx="10668000" cy="581025"/>
          </a:xfrm>
          <a:prstGeom prst="roundRect">
            <a:avLst>
              <a:gd fmla="val 1967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62000" y="2752725"/>
            <a:ext cx="2524125" cy="1447800"/>
          </a:xfrm>
          <a:prstGeom prst="roundRect">
            <a:avLst>
              <a:gd fmla="val 789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476625" y="2752725"/>
            <a:ext cx="2524125" cy="1447800"/>
          </a:xfrm>
          <a:prstGeom prst="roundRect">
            <a:avLst>
              <a:gd fmla="val 789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6191250" y="2752725"/>
            <a:ext cx="2524125" cy="1447800"/>
          </a:xfrm>
          <a:prstGeom prst="roundRect">
            <a:avLst>
              <a:gd fmla="val 789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8905875" y="2752725"/>
            <a:ext cx="2524125" cy="1447800"/>
          </a:xfrm>
          <a:prstGeom prst="roundRect">
            <a:avLst>
              <a:gd fmla="val 789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1662" y="29908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8187" y="29908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9962" y="299085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5537" y="29908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EMPIRYCZNA BAZA BADANIA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Charakterystyka zbioru Eurobarometer 101.3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00125" y="5943600"/>
            <a:ext cx="26074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Zakres kryteriów modułu QA1: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819650" y="5948362"/>
            <a:ext cx="73723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Sytuacja w kraju • Gospodarka • Finanse gospodarstwa • Zatrudnienie • Rynek pracy • Usługi publiczne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80144" y="3409950"/>
            <a:ext cx="26878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27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44140" y="3781425"/>
            <a:ext cx="25598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Krajów członkowskich UE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3394769" y="3409950"/>
            <a:ext cx="26878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26 405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3458765" y="3781425"/>
            <a:ext cx="25598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Reprezentatywnych ankiet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6109394" y="3409950"/>
            <a:ext cx="26878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Wiosna 2024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173390" y="3781425"/>
            <a:ext cx="25598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Okres realizacji pomiaru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824019" y="3409950"/>
            <a:ext cx="26878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 wymiarów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888015" y="3781425"/>
            <a:ext cx="255984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Kryteria diagnostyczne QA1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/>
          <p:nvPr/>
        </p:nvSpPr>
        <p:spPr>
          <a:xfrm>
            <a:off x="762000" y="2181225"/>
            <a:ext cx="4760714" cy="2990850"/>
          </a:xfrm>
          <a:prstGeom prst="roundRect">
            <a:avLst>
              <a:gd fmla="val 38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827514" y="2181225"/>
            <a:ext cx="5602485" cy="2990850"/>
          </a:xfrm>
          <a:prstGeom prst="roundRect">
            <a:avLst>
              <a:gd fmla="val 38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1038225" y="3409950"/>
            <a:ext cx="4208264" cy="438150"/>
          </a:xfrm>
          <a:prstGeom prst="roundRect">
            <a:avLst>
              <a:gd fmla="val 1739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6103739" y="3171825"/>
            <a:ext cx="5050035" cy="428625"/>
          </a:xfrm>
          <a:prstGeom prst="roundRect">
            <a:avLst>
              <a:gd fmla="val 1777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6103739" y="3752850"/>
            <a:ext cx="5050035" cy="628650"/>
          </a:xfrm>
          <a:prstGeom prst="roundRect">
            <a:avLst>
              <a:gd fmla="val 606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6103739" y="3752850"/>
            <a:ext cx="38100" cy="6286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762000" y="6143625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Przykład dla Polski (sytuacja w kraju): m_PL = [0.05, 0.68, 0.20, 0.02, 0.05]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FUNDAMENT TEORETYCZNY (1/3)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Rama rozważań i wektor mas przekonań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038225" y="2457450"/>
            <a:ext cx="552334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Rama rozważań Θ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038225" y="2800350"/>
            <a:ext cx="430351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Zbiór wszystkich rozłącznych i wyczerpujących ocen jakościowych: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1190625" y="3524250"/>
            <a:ext cx="399871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Θ = { H₁, H₂, H₃, H₄ }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103739" y="2457450"/>
            <a:ext cx="608826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Wektor BPA (Basic Probability Assignment)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103739" y="2790825"/>
            <a:ext cx="60882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Każdy kraj i kryterium reprezentuje 5-elementowy wektor rozkładu: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256139" y="3286125"/>
            <a:ext cx="484048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 = [ β₁, β₂, β₃, β₄, β_H ]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038225" y="4000500"/>
            <a:ext cx="526033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H₁: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Bardzo dobra (Very good)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038225" y="4238625"/>
            <a:ext cx="526033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H₂: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Raczej dobra (Rather good)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1038225" y="4476750"/>
            <a:ext cx="526033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H₃: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Raczej zła (Rather bad)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038225" y="4714875"/>
            <a:ext cx="526033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H₄: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Bardzo zła (Very bad)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294239" y="3867150"/>
            <a:ext cx="48023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β_H = m(Θ) [Don't know]:</a:t>
            </a:r>
            <a:r>
              <a:rPr b="0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Ignorancja nie jest odrzucana, lecz przypisana do całego uniwersum Θ z warunkiem bilansowym: </a:t>
            </a:r>
            <a:r>
              <a:rPr b="1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Σ β = 1.0</a:t>
            </a:r>
            <a:r>
              <a:rPr b="0" i="0" lang="en-US" sz="1050" u="none" cap="none" strike="noStrike">
                <a:solidFill>
                  <a:srgbClr val="0369A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/>
          <p:nvPr/>
        </p:nvSpPr>
        <p:spPr>
          <a:xfrm>
            <a:off x="762000" y="2414587"/>
            <a:ext cx="5181600" cy="2514600"/>
          </a:xfrm>
          <a:prstGeom prst="roundRect">
            <a:avLst>
              <a:gd fmla="val 4545" name="adj"/>
            </a:avLst>
          </a:prstGeom>
          <a:solidFill>
            <a:srgbClr val="FFFFFF"/>
          </a:solidFill>
          <a:ln cap="flat" cmpd="sng" w="1905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6248400" y="2521743"/>
            <a:ext cx="5181600" cy="2300287"/>
          </a:xfrm>
          <a:prstGeom prst="roundRect">
            <a:avLst>
              <a:gd fmla="val 4968" name="adj"/>
            </a:avLst>
          </a:prstGeom>
          <a:solidFill>
            <a:srgbClr val="FFFFFF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1085850" y="2738437"/>
            <a:ext cx="1714500" cy="228600"/>
          </a:xfrm>
          <a:prstGeom prst="roundRect">
            <a:avLst>
              <a:gd fmla="val 25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1085850" y="4167187"/>
            <a:ext cx="4533900" cy="438150"/>
          </a:xfrm>
          <a:prstGeom prst="roundRect">
            <a:avLst>
              <a:gd fmla="val 1739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572250" y="2845593"/>
            <a:ext cx="1504950" cy="228600"/>
          </a:xfrm>
          <a:prstGeom prst="roundRect">
            <a:avLst>
              <a:gd fmla="val 25000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572250" y="4060031"/>
            <a:ext cx="4533900" cy="438150"/>
          </a:xfrm>
          <a:prstGeom prst="roundRect">
            <a:avLst>
              <a:gd fmla="val 17391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762000" y="6134100"/>
            <a:ext cx="1143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Zasada TOPSIS: Pożądany wariant minimalizuje dystans do S⁺ oraz maksymalizuje oddalenie od S⁻.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FUNDAMENT TEORETYCZNY (2/3)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Punkty odniesienia w przestrzeni przekonań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200150" y="2776537"/>
            <a:ext cx="1581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WZORZEC IDEALNY (PIS)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085850" y="3090862"/>
            <a:ext cx="595074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S⁺ (Stan doskonały)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1085850" y="3548062"/>
            <a:ext cx="46291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przekonania w ocenę najwyższą (Very good), brak wątpliwości: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1238250" y="4281487"/>
            <a:ext cx="4324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S⁺ = [ 1.0, 0.0, 0.0, 0.0, 0.0 ]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686550" y="2883693"/>
            <a:ext cx="1371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ANTYWZORZEC (NIS)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572250" y="3198018"/>
            <a:ext cx="56197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S⁻ (Stan kryzysowy)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572250" y="3655218"/>
            <a:ext cx="56197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przekonania w ocenę najgorszą (Very bad), brak wątpliwości: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724650" y="4174331"/>
            <a:ext cx="4324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S⁻ = [ 0.0, 0.0, 0.0, 1.0, 0.0 ]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762000" y="2557462"/>
            <a:ext cx="5869185" cy="2238375"/>
          </a:xfrm>
          <a:prstGeom prst="roundRect">
            <a:avLst>
              <a:gd fmla="val 510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6935985" y="2671762"/>
            <a:ext cx="4494014" cy="800100"/>
          </a:xfrm>
          <a:prstGeom prst="roundRect">
            <a:avLst>
              <a:gd fmla="val 1428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6935985" y="3624262"/>
            <a:ext cx="4494014" cy="1057275"/>
          </a:xfrm>
          <a:prstGeom prst="roundRect">
            <a:avLst>
              <a:gd fmla="val 10810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19"/>
          <p:cNvGraphicFramePr/>
          <p:nvPr/>
        </p:nvGraphicFramePr>
        <p:xfrm>
          <a:off x="1000125" y="3433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{A0BC5F43-EFD7-496A-8DB1-DE62BBD4FA84}</a:tableStyleId>
              </a:tblPr>
              <a:tblGrid>
                <a:gridCol w="599175"/>
                <a:gridCol w="958600"/>
                <a:gridCol w="958600"/>
                <a:gridCol w="958600"/>
                <a:gridCol w="958600"/>
                <a:gridCol w="959350"/>
              </a:tblGrid>
              <a:tr h="187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8F0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</a:tr>
              <a:tr h="187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284C7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0.25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0F172A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212" name="Google Shape;212;p19"/>
          <p:cNvSpPr txBox="1"/>
          <p:nvPr/>
        </p:nvSpPr>
        <p:spPr>
          <a:xfrm>
            <a:off x="762000" y="6143625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Macierz D jest stałą przestrzenią pomiarową — nie zależy od wartości liczbowych poszczególnych państw.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FUNDAMENT TEORETYCZNY (3/3)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Metryka Jousselme'a i rola współczynnika 0,25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1000125" y="2795587"/>
            <a:ext cx="707822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Macierz podobieństwa D (Indeks Jaccarda)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1000125" y="3128962"/>
            <a:ext cx="6741169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D(A, B) = |A ∩ B| / |A ∪ B| — określa nakładanie się pojęć: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7126485" y="2862262"/>
            <a:ext cx="506551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Wzór na odległość Jousselme'a: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7126485" y="3071812"/>
            <a:ext cx="5065514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d_J = √[ 0.5 · diffᵀ · D · diff ]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7136010" y="3824287"/>
            <a:ext cx="505598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Dlaczego 0,25 zapobiega błędom?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7136010" y="4081462"/>
            <a:ext cx="418921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Odpowiedź „Nie wiem” zawiera 1 z 4 możliwych ocen (1/4 = 0.25). Niepewność nie jest karana jak katastrofa.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/>
          <p:nvPr/>
        </p:nvSpPr>
        <p:spPr>
          <a:xfrm>
            <a:off x="762000" y="2843212"/>
            <a:ext cx="2168128" cy="1647825"/>
          </a:xfrm>
          <a:prstGeom prst="roundRect">
            <a:avLst>
              <a:gd fmla="val 693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3482578" y="2928937"/>
            <a:ext cx="2506414" cy="1476375"/>
          </a:xfrm>
          <a:prstGeom prst="roundRect">
            <a:avLst>
              <a:gd fmla="val 774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6541442" y="2833687"/>
            <a:ext cx="2168128" cy="1666875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9262020" y="2833687"/>
            <a:ext cx="2168128" cy="1666875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3720703" y="3443287"/>
            <a:ext cx="2030164" cy="323850"/>
          </a:xfrm>
          <a:prstGeom prst="roundRect">
            <a:avLst>
              <a:gd fmla="val 17647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3720703" y="3843337"/>
            <a:ext cx="2030164" cy="323850"/>
          </a:xfrm>
          <a:prstGeom prst="roundRect">
            <a:avLst>
              <a:gd fmla="val 17647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1" name="Google Shape;2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0628" y="35718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9492" y="35718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0070" y="357187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762000" y="6124575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Końcowa syntetyczna bliskość: R_i = d⁻ / (d⁺ + d⁻) ∈ [0, 1].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ARCHITEKTURA OBLICZENIOWA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Dwuścieżkowy proces ewaluacji państwa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990600" y="3071812"/>
            <a:ext cx="1806178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Krok 1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770042" y="3062287"/>
            <a:ext cx="1806178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Krok 3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9490620" y="3062287"/>
            <a:ext cx="1806178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Krok 4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1000125" y="3357562"/>
            <a:ext cx="22205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Wektory kryteriów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1000125" y="3652837"/>
            <a:ext cx="1787128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Pobranie rozkładu odpowiedzi m_j dla każdego z kryteriów.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3720703" y="3205162"/>
            <a:ext cx="14001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KROK 2: ROZBICIE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779567" y="3348037"/>
            <a:ext cx="187648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Mnożenie macierzowe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779567" y="3862387"/>
            <a:ext cx="17871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Wyliczenie odległości Jousselme'a d_j⁺ oraz d_j⁻.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9500145" y="3348037"/>
            <a:ext cx="187648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Średnia kwadratowa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9500145" y="3862387"/>
            <a:ext cx="178712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Agregacja do wskaźników d⁺ i d⁻ oraz synteza R_i.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3835003" y="3519487"/>
            <a:ext cx="189681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Tor A:</a:t>
            </a:r>
            <a:r>
              <a:rPr b="0" i="0" lang="en-US" sz="975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diff⁺ = m_j - S⁺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3835003" y="3919537"/>
            <a:ext cx="189681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Tor B:</a:t>
            </a:r>
            <a:r>
              <a:rPr b="0" i="0" lang="en-US" sz="975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diff⁻ = m_j - S⁻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"/>
          <p:cNvSpPr/>
          <p:nvPr/>
        </p:nvSpPr>
        <p:spPr>
          <a:xfrm>
            <a:off x="762000" y="2695575"/>
            <a:ext cx="5486400" cy="1962150"/>
          </a:xfrm>
          <a:prstGeom prst="roundRect">
            <a:avLst>
              <a:gd fmla="val 582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6553200" y="2381250"/>
            <a:ext cx="4876800" cy="1200150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6553200" y="3771900"/>
            <a:ext cx="4876800" cy="1200150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762000" y="6143625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Wszystkie kryteria otrzymały jednakowe wagi w_j = 1/n przy założeniu równej ważności obszarów.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AGREGACJA WIELOKRYTERIALNA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Ważona średnia kwadratowa w TOPSIS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1066800" y="3000375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Formuła agregacji odległości od wzorca: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1066800" y="3248025"/>
            <a:ext cx="6096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d⁺ = √ [ Σ w_j · (d_j⁺)² ]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1066800" y="3790950"/>
            <a:ext cx="6096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Formuła agregacji odległości od antywzorca: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1066800" y="4038600"/>
            <a:ext cx="6096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717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d⁻ = √ [ Σ w_j · (d_j⁻)² ]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791325" y="2619375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Interpretacja geometryczna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791325" y="2914650"/>
            <a:ext cx="4495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Reprezentuje uogólnione twierdzenie Pitagorasa w n-wymiarowej przestrzeni kryteriów.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6791325" y="4010025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Własność ekonometryczna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791325" y="4305300"/>
            <a:ext cx="44958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Średnia kwadratowa silniej penalizuje skrajne załamania w pojedynczych obszarach, zapobiegając ich ukrywaniu.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4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/>
          <p:nvPr/>
        </p:nvSpPr>
        <p:spPr>
          <a:xfrm>
            <a:off x="762000" y="2483494"/>
            <a:ext cx="10668000" cy="2395686"/>
          </a:xfrm>
          <a:prstGeom prst="roundRect">
            <a:avLst>
              <a:gd fmla="val 4771" name="adj"/>
            </a:avLst>
          </a:prstGeom>
          <a:solidFill>
            <a:srgbClr val="020617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2" name="Google Shape;2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6181576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1125" y="6181576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82200" y="6181576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2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INŻYNIERIA OPROGRAMOWANIA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Implementacja modelu: Klasa BTOPSIS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1000125" y="2721619"/>
            <a:ext cx="11191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43F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_jousselme_distance</a:t>
            </a: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(self, m1, m2):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1000125" y="2934890"/>
            <a:ext cx="11191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diff = m1 - m2  </a:t>
            </a: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Wektor różnicy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1000125" y="3148161"/>
            <a:ext cx="11191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D = np.eye(5); D[:4, 4] = 0.25; D[4, :4] = 0.25  </a:t>
            </a: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Macierz Jaccarda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1000125" y="3361432"/>
            <a:ext cx="11191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  </a:t>
            </a:r>
            <a:r>
              <a:rPr b="0" i="0" lang="en-US" sz="1050" u="none" cap="none" strike="noStrike">
                <a:solidFill>
                  <a:srgbClr val="F43F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np.sqrt(max(0.0, 0.5 * np.dot(np.dot(diff, D), diff)))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000125" y="3787973"/>
            <a:ext cx="11191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W pętli po kryteriach dla każdego kraju: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1000125" y="4001244"/>
            <a:ext cx="11191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sum_pos += self.w[j] * (self._jousselme_distance(m_ij, s_plus) ** 2)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1000125" y="4214514"/>
            <a:ext cx="11191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sum_neg += self.w[j] * (self._jousselme_distance(m_ij, s_minus) ** 2)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1000125" y="4427785"/>
            <a:ext cx="111918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closeness = d_minus / (d_plus + d_minus)  </a:t>
            </a:r>
            <a:r>
              <a:rPr b="0" i="0" lang="en-US" sz="105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Wskaźnik R_i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762000" y="6153001"/>
            <a:ext cx="1162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 3.11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5191125" y="6153001"/>
            <a:ext cx="15478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NumPy + Pandas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9982200" y="6153001"/>
            <a:ext cx="18097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Matplotlib (300 DPI)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/>
          <p:nvPr/>
        </p:nvSpPr>
        <p:spPr>
          <a:xfrm>
            <a:off x="9641383" y="2986087"/>
            <a:ext cx="600075" cy="200025"/>
          </a:xfrm>
          <a:prstGeom prst="roundRect">
            <a:avLst>
              <a:gd fmla="val 19047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9641383" y="3824287"/>
            <a:ext cx="1247775" cy="200025"/>
          </a:xfrm>
          <a:prstGeom prst="roundRect">
            <a:avLst>
              <a:gd fmla="val 19047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9641383" y="4662487"/>
            <a:ext cx="1009650" cy="200025"/>
          </a:xfrm>
          <a:prstGeom prst="roundRect">
            <a:avLst>
              <a:gd fmla="val 19047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762000" y="2395537"/>
            <a:ext cx="10668000" cy="25622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6" name="Google Shape;296;p23"/>
          <p:cNvGraphicFramePr/>
          <p:nvPr/>
        </p:nvGraphicFramePr>
        <p:xfrm>
          <a:off x="762000" y="2395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{A0BC5F43-EFD7-496A-8DB1-DE62BBD4FA84}</a:tableStyleId>
              </a:tblPr>
              <a:tblGrid>
                <a:gridCol w="1133625"/>
                <a:gridCol w="1542300"/>
                <a:gridCol w="2325000"/>
                <a:gridCol w="2117825"/>
                <a:gridCol w="1565375"/>
                <a:gridCol w="1974350"/>
              </a:tblGrid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Pozycja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Kraj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d⁺ (Dystans do ideału)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d⁻ (Dystans do dna)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Wskaźnik R_i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Dania (DK)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0,6210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0,8230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16A34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0,5699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Holandia (NL)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0,6470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0,8238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0,5601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Czołówka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Polska (PL)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0,8134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0,8396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DC2626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0,5079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</a:tr>
              <a:tr h="42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Niemcy (DE)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0,7823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0,7949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0,5040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Środek stawki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7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64748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Grecja (EL)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0,8080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0,7056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B91C1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0,4662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7" name="Google Shape;297;p23"/>
          <p:cNvSpPr txBox="1"/>
          <p:nvPr/>
        </p:nvSpPr>
        <p:spPr>
          <a:xfrm>
            <a:off x="762000" y="6143625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Średnia unijna R_i wynosi dokładnie 0,5077 — Polska z wynikiem 0,5079 uplasowała się w górnej połowie.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WYNIKI EMPIRYCZNE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Zestawienie parametrów dla wybranych państw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9717583" y="3014662"/>
            <a:ext cx="5429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Lider UE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9717583" y="3852862"/>
            <a:ext cx="1190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91C1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Powyżej średniej UE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9717583" y="4691062"/>
            <a:ext cx="952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Ostatnia lokata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"/>
          <p:cNvSpPr/>
          <p:nvPr/>
        </p:nvSpPr>
        <p:spPr>
          <a:xfrm>
            <a:off x="9486900" y="457200"/>
            <a:ext cx="1943100" cy="266700"/>
          </a:xfrm>
          <a:prstGeom prst="roundRect">
            <a:avLst>
              <a:gd fmla="val 28571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8" name="Google Shape;3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219200"/>
            <a:ext cx="10668000" cy="485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25" y="1304925"/>
            <a:ext cx="1049655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4"/>
          <p:cNvSpPr txBox="1"/>
          <p:nvPr/>
        </p:nvSpPr>
        <p:spPr>
          <a:xfrm>
            <a:off x="9620250" y="514350"/>
            <a:ext cx="1771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Wykres z modułu Matplotlib</a:t>
            </a:r>
            <a:endParaRPr/>
          </a:p>
        </p:txBody>
      </p:sp>
      <p:sp>
        <p:nvSpPr>
          <p:cNvPr id="311" name="Google Shape;311;p24"/>
          <p:cNvSpPr txBox="1"/>
          <p:nvPr/>
        </p:nvSpPr>
        <p:spPr>
          <a:xfrm>
            <a:off x="762000" y="6229350"/>
            <a:ext cx="41195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Czerwony słupek: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Polska na 10. pozycji (R_i = 0,5079)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8181975" y="6229350"/>
            <a:ext cx="40100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Linia przerywana: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Średnia dla 27 państw UE (0,5077)</a:t>
            </a:r>
            <a:endParaRPr/>
          </a:p>
        </p:txBody>
      </p:sp>
      <p:sp>
        <p:nvSpPr>
          <p:cNvPr id="313" name="Google Shape;313;p24"/>
          <p:cNvSpPr txBox="1"/>
          <p:nvPr/>
        </p:nvSpPr>
        <p:spPr>
          <a:xfrm>
            <a:off x="762000" y="457200"/>
            <a:ext cx="9870281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WIZUALIZACJA RANKINGU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762000" y="685800"/>
            <a:ext cx="1036379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Hierarchia państw Unii Europejskiej wg wskaźnika R_i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/>
          <p:nvPr/>
        </p:nvSpPr>
        <p:spPr>
          <a:xfrm>
            <a:off x="762000" y="3052762"/>
            <a:ext cx="3403550" cy="1247775"/>
          </a:xfrm>
          <a:prstGeom prst="roundRect">
            <a:avLst>
              <a:gd fmla="val 91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4394150" y="3052762"/>
            <a:ext cx="3403550" cy="1247775"/>
          </a:xfrm>
          <a:prstGeom prst="roundRect">
            <a:avLst>
              <a:gd fmla="val 91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8026300" y="3052762"/>
            <a:ext cx="3403550" cy="1247775"/>
          </a:xfrm>
          <a:prstGeom prst="roundRect">
            <a:avLst>
              <a:gd fmla="val 91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762000" y="6143625"/>
            <a:ext cx="11430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Zastosowanie B-TOPSIS pozwoliło zachować obiektywizm i precyzyjnie uwzględnić ignorancję społeczną.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WNIOSKI EKONOMETRYCZNE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762000" y="78105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Wnioski z analizy empirycznej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1000125" y="3328987"/>
            <a:ext cx="38420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Grupa I: Liderzy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1000125" y="3624262"/>
            <a:ext cx="3022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Kraje nordyckie i Beneluks (DK, NL, LU) wyraźnie dominują z R_i &gt; 0,54.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4632275" y="3328987"/>
            <a:ext cx="38420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Pozycja Polski</a:t>
            </a:r>
            <a:endParaRPr/>
          </a:p>
        </p:txBody>
      </p:sp>
      <p:sp>
        <p:nvSpPr>
          <p:cNvPr id="328" name="Google Shape;328;p25"/>
          <p:cNvSpPr txBox="1"/>
          <p:nvPr/>
        </p:nvSpPr>
        <p:spPr>
          <a:xfrm>
            <a:off x="4632275" y="3624262"/>
            <a:ext cx="3022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Polska (10. miejsce) wyprzedza Niemcy, Francję i kraje południa Europy.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8264425" y="3328987"/>
            <a:ext cx="38420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Grupa III: Południe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8264425" y="3624262"/>
            <a:ext cx="3022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Włochy, Hiszpania i Grecja zmagają się z silnymi nastrojami kryzysowymi.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224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/>
          <p:nvPr/>
        </p:nvSpPr>
        <p:spPr>
          <a:xfrm>
            <a:off x="3833812" y="4060477"/>
            <a:ext cx="4524375" cy="495300"/>
          </a:xfrm>
          <a:prstGeom prst="roundRect">
            <a:avLst>
              <a:gd fmla="val 23076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6"/>
          <p:cNvSpPr txBox="1"/>
          <p:nvPr/>
        </p:nvSpPr>
        <p:spPr>
          <a:xfrm>
            <a:off x="4798218" y="2302222"/>
            <a:ext cx="25955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ZAKOŃCZENIE REFERATU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3420665" y="2654647"/>
            <a:ext cx="5350668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Dziękuję za uwagę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3819525" y="4222402"/>
            <a:ext cx="32861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Temat: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Metoda B-TOPSIS w badaniach UE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6938962" y="4222402"/>
            <a:ext cx="12477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Prelegent:</a:t>
            </a:r>
            <a:r>
              <a:rPr b="0" i="0" lang="en-US" sz="10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Filip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